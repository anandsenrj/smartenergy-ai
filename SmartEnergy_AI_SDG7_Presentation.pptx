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8F9FA"/>
                </a:solidFill>
                <a:latin typeface="Arial"/>
              </a:defRPr>
            </a:pPr>
            <a:r>
              <a:rPr sz="900" b="0" i="0" u="none" strike="noStrike">
                <a:solidFill>
                  <a:srgbClr val="F8F9FA"/>
                </a:solidFill>
                <a:latin typeface="Arial"/>
              </a:rPr>
              <a:t>7-Day Energy Forecast (kWh)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 Forecast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320</c:v>
                </c:pt>
                <c:pt idx="1">
                  <c:v>280</c:v>
                </c:pt>
                <c:pt idx="2">
                  <c:v>310</c:v>
                </c:pt>
                <c:pt idx="3">
                  <c:v>340</c:v>
                </c:pt>
                <c:pt idx="4">
                  <c:v>295</c:v>
                </c:pt>
                <c:pt idx="5">
                  <c:v>180</c:v>
                </c:pt>
                <c:pt idx="6">
                  <c:v>160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8F9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6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8F9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C3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C3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3C34"/>
                </a:solidFill>
                <a:latin typeface="Arial"/>
              </a:rPr>
              <a:t>Carbon Share by Energy Source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Carbon by Source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bubble3D val="0"/>
            <c:spPr>
              <a:solidFill>
                <a:srgbClr val="2D6A4F"/>
              </a:solidFill>
              <a:effectLst/>
            </c:spPr>
          </c:dPt>
          <c:dPt>
            <c:idx val="3"/>
            <c:bubble3D val="0"/>
            <c:spPr>
              <a:solidFill>
                <a:srgbClr val="4CC9F0"/>
              </a:solidFill>
              <a:effectLst/>
            </c:spPr>
          </c:dPt>
          <c:dPt>
            <c:idx val="4"/>
            <c:bubble3D val="0"/>
            <c:spPr>
              <a:solidFill>
                <a:srgbClr val="6C757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HVAC / Cooling</c:v>
                </c:pt>
                <c:pt idx="1">
                  <c:v>Lighting</c:v>
                </c:pt>
                <c:pt idx="2">
                  <c:v>Machinery</c:v>
                </c:pt>
                <c:pt idx="3">
                  <c:v>IT Equipment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38</c:v>
                </c:pt>
                <c:pt idx="1">
                  <c:v>18</c:v>
                </c:pt>
                <c:pt idx="2">
                  <c:v>25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1252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C3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3C34"/>
                </a:solidFill>
                <a:latin typeface="Arial"/>
              </a:rPr>
              <a:t>Monthly CO₂ Reduction Projection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CO₂ Baseline (kg)</c:v>
                </c:pt>
              </c:strCache>
            </c:strRef>
          </c:tx>
          <c:spPr>
            <a:solidFill>
              <a:srgbClr val="E76F51"/>
            </a:solidFill>
            <a:ln w="3175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540</c:v>
                </c:pt>
                <c:pt idx="1">
                  <c:v>520</c:v>
                </c:pt>
                <c:pt idx="2">
                  <c:v>480</c:v>
                </c:pt>
                <c:pt idx="3">
                  <c:v>450</c:v>
                </c:pt>
                <c:pt idx="4">
                  <c:v>410</c:v>
                </c:pt>
                <c:pt idx="5">
                  <c:v>380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CO₂ with AI (kg)</c:v>
                </c:pt>
              </c:strCache>
            </c:strRef>
          </c:tx>
          <c:spPr>
            <a:solidFill>
              <a:srgbClr val="52B788"/>
            </a:solidFill>
            <a:ln w="31750" cap="flat">
              <a:solidFill>
                <a:srgbClr val="52B7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540</c:v>
                </c:pt>
                <c:pt idx="1">
                  <c:v>490</c:v>
                </c:pt>
                <c:pt idx="2">
                  <c:v>430</c:v>
                </c:pt>
                <c:pt idx="3">
                  <c:v>380</c:v>
                </c:pt>
                <c:pt idx="4">
                  <c:v>330</c:v>
                </c:pt>
                <c:pt idx="5">
                  <c:v>290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5669280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SmartEnergy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Forecasting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Carbon Footprint Advisor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SMEs &amp; Campuses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1645920" cy="475488"/>
          </a:xfrm>
          <a:prstGeom prst="rect">
            <a:avLst>
              <a:gd name="adj" fmla="val 1153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+ SDG 13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640080"/>
            <a:ext cx="1371600" cy="13716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94560"/>
            <a:ext cx="1371600" cy="13716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657600"/>
            <a:ext cx="1371600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·  IBM SkillsBuild &amp; AICTE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SDG 7 — Affordable &amp; Clean Energy  |  Secondary: SDG 13 — Climate Action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1463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192024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7899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7.2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04825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renewable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share globally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00584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005840"/>
            <a:ext cx="192024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07899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7.3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06040" y="204825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energy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improvement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09160" y="100584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1005840"/>
            <a:ext cx="192024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7899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13.2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754880" y="204825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climate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into planning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58000" y="100584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0" y="1005840"/>
            <a:ext cx="192024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07899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13.3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903720" y="204825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climate-change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&amp; capacity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11480" y="4251960"/>
            <a:ext cx="8321040" cy="59436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4251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~800M people lack electricity access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337560" y="4251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Energy = 73% of global CO₂ emissions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126480" y="4251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Efficiency gains cut costs by up to 30%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challenge across energy waste, costs, and carbon emissions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1463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8321040" cy="1188720"/>
          </a:xfrm>
          <a:prstGeom prst="rect">
            <a:avLst/>
          </a:prstGeom>
          <a:solidFill>
            <a:srgbClr val="EDF4ED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13716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87552"/>
            <a:ext cx="7909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use AI to forecast energy consumption and estimate carbon footprint so that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and campuses can reduce costs, shift to clean energy, and become more sustainable?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331720"/>
            <a:ext cx="265176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Waste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1208" y="288036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&amp; campuses have no real-time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peak usage hours,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causing up to 30% avoidable waste.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64408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4408" y="2331720"/>
            <a:ext cx="265176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37744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21608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Carbon Costs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74136" y="288036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rarely know their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energy-linked CO₂ output, making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goals impossible to track.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17336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17336" y="2331720"/>
            <a:ext cx="2651760" cy="5029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237744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74536" y="2377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Support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27064" y="288036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lack tools to simulate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'what-if' scenarios for solar shifts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behavioural energy changes.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and stakeholders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1463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05840"/>
            <a:ext cx="914400" cy="9144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069848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Owners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377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retail, hospitality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63240" y="1005840"/>
            <a:ext cx="914400" cy="9144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069848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Managers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560320" y="2377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Colleges, offices,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212080" y="1005840"/>
            <a:ext cx="914400" cy="9144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069848"/>
            <a:ext cx="777240" cy="777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Auditors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09160" y="2377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advising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efficiency gains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360920" y="1005840"/>
            <a:ext cx="914400" cy="9144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069848"/>
            <a:ext cx="777240" cy="7772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Planners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58000" y="2377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bodies tracking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compliance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11480" y="3200400"/>
            <a:ext cx="8321040" cy="1463040"/>
          </a:xfrm>
          <a:prstGeom prst="rect">
            <a:avLst/>
          </a:prstGeom>
          <a:solidFill>
            <a:srgbClr val="F0FAF4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94360" y="32918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AI Needed?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94360" y="370332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Prediction — forecast next-day or next-week energy demand automatically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94360" y="393192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 Automation — generate personalised efficiency recommendations at scale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94360" y="416052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Insight — detect anomalies and wasteful patterns in consumption data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94360" y="438912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Scale — estimate carbon footprint from energy data with no manual effort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SmartEnergy AI — combining forecasting, carbon tracking &amp; advisory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1463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402336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3327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515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Forecasting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16002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LLM + time-series prompts predict daily/weekly consumption based on historical patterns &amp; weather context.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960120"/>
            <a:ext cx="4023360" cy="5669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033272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0515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Calculator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73168" y="16002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kWh usage to CO₂ (kg) using regional grid emission factors. Displays live carbon dashboard.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11480" y="28346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834640"/>
            <a:ext cx="4023360" cy="56692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907792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9260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Chatbot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1208" y="34747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over clean-energy policies answers 'what-if' questions: 'What if I add 10 solar panels?'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28346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834640"/>
            <a:ext cx="4023360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907792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12080" y="29260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773168" y="34747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auto-fetches tariff + weather data, runs forecasts, and sends weekly sustainability digest.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&amp; Prototype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— from raw data to sustainability decision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1463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566928" cy="56692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969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bills, smart meter CSV,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type, location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4944" y="1527048"/>
            <a:ext cx="0" cy="201168"/>
          </a:xfrm>
          <a:prstGeom prst="line">
            <a:avLst/>
          </a:prstGeom>
          <a:noFill/>
          <a:ln w="25400">
            <a:solidFill>
              <a:srgbClr val="1A3C3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1480" y="1728216"/>
            <a:ext cx="566928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002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normalises data, fetches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&amp; grid emission factor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4944" y="2295144"/>
            <a:ext cx="0" cy="201168"/>
          </a:xfrm>
          <a:prstGeom prst="line">
            <a:avLst/>
          </a:prstGeom>
          <a:noFill/>
          <a:ln w="25400">
            <a:solidFill>
              <a:srgbClr val="2D6A4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11480" y="2496312"/>
            <a:ext cx="566928" cy="5669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96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7706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prompt predicts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7-day energy (kWh)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" y="3063240"/>
            <a:ext cx="0" cy="201168"/>
          </a:xfrm>
          <a:prstGeom prst="line">
            <a:avLst/>
          </a:prstGeom>
          <a:noFill/>
          <a:ln w="25400">
            <a:solidFill>
              <a:srgbClr val="52B78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11480" y="3264408"/>
            <a:ext cx="566928" cy="5669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Estimation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5387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× emission factor = CO₂ (kg)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 generated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4944" y="3831336"/>
            <a:ext cx="0" cy="201168"/>
          </a:xfrm>
          <a:prstGeom prst="line">
            <a:avLst/>
          </a:prstGeom>
          <a:noFill/>
          <a:ln w="25400">
            <a:solidFill>
              <a:srgbClr val="E76F5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11480" y="4032504"/>
            <a:ext cx="566928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32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8992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Output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4306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+ PDF digest: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&amp; renewable options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960120"/>
            <a:ext cx="3840480" cy="38862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Dashboard</a:t>
            </a:r>
            <a:endParaRPr lang="en-US" sz="11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937760" y="1389888"/>
          <a:ext cx="3639312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4937760" y="2971800"/>
            <a:ext cx="1691640" cy="8229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29718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This Week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127.4 kg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720840" y="2971800"/>
            <a:ext cx="1783080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20840" y="2971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Potential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₹4,200/month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937760" y="38587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Recommendation: Shift heavy machinery to off-peak (10 PM–6 AM)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consider 5kW solar for 18% annual cost reduction.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Tracking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SmartEnergy AI translates energy data into actionable CO₂ insights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1463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83210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0058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(kg)  =  Energy Consumed (kWh)  ×  Grid Emission Factor (kg CO₂/kWh)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average grid factor ≈ 0.82 kg CO₂/kWh  |  Solar factor ≈ 0.04 kg CO₂/kWh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87452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4617720" y="187452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Considerations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principles embedded into SmartEnergy AI by design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1463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44752"/>
            <a:ext cx="676656" cy="676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08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9842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calibrated for small &amp; large businesses equally. No bias toward high-tech users. Low-data fallback prompts for rural SMEs.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417320"/>
            <a:ext cx="731520" cy="73152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44475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508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19842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includes an explanation of the AI reasoning. Users see the data sources and emission factors used.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1480" y="292608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319272"/>
            <a:ext cx="676656" cy="6766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38587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misleading carbon offset claims. Solution flags uncertainty in forecasts. Does not recommend actions that shift burden to others.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292608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291840"/>
            <a:ext cx="731520" cy="7315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319272"/>
            <a:ext cx="676656" cy="6766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846320" y="38587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data is processed locally or anonymised. No personal identifiers stored. User consents to any cloud processing.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benefits when SmartEnergy AI is deployed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1463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1920240" cy="16916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192024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energy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1920240" cy="16916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005840"/>
            <a:ext cx="192024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60320" y="19202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in year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1920240" cy="16916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05840"/>
            <a:ext cx="1920240" cy="109728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709160" y="19202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carbon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1920240" cy="16916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005840"/>
            <a:ext cx="192024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58000" y="19202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needed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(cloud-native)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8321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29718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&amp; How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10712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50392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Owners: 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50392" y="3593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bill forecasts → budget control. AI-suggested shift to solar → long-term savings.</a:t>
            </a:r>
            <a:endParaRPr lang="en-US" sz="9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410712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56632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Managers: 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056632" y="3593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monthly sustainability report. Identify high-drain equipment instantly.</a:t>
            </a:r>
            <a:endParaRPr lang="en-US" sz="9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6200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0392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Planners: 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50392" y="40690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city-level CO₂ data → evidence-based clean energy policy decisions.</a:t>
            </a:r>
            <a:endParaRPr lang="en-US" sz="9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886200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056632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Environment: 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056632" y="40690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reducing 30% CO₂ × 1,000 businesses = ~1,600 tonnes CO₂ saved/year.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91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SmartEnergy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+ SDG 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733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energy forecasting + carbon footprint tracking + advisory chatbot in one AI pipeline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762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IBM Granite LLM, RAG, and agentic workflows — no advanced coding required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791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SMEs, campuses, auditors, and policy planners across India and beyond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8211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by design: fair, transparent, ethical, and privacy-preserving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85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impact: 25% cost savings, 30% CO₂ reduction, and 10× faster reporting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B24"/>
          </a:solidFill>
          <a:ln w="12700">
            <a:solidFill>
              <a:srgbClr val="0D2B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 ·  In Collaboration with IBM SkillsBuild &amp; AICTE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SmartEnergy AI – SDG 7 Project</dc:title>
  <dc:subject>PptxGenJS Presentation</dc:subject>
  <dc:creator>1M1B AI for Sustainability Internship</dc:creator>
  <cp:lastModifiedBy>1M1B AI for Sustainability Internship</cp:lastModifiedBy>
  <cp:revision>1</cp:revision>
  <dcterms:created xsi:type="dcterms:W3CDTF">2026-06-06T07:11:16Z</dcterms:created>
  <dcterms:modified xsi:type="dcterms:W3CDTF">2026-06-06T07:11:16Z</dcterms:modified>
</cp:coreProperties>
</file>